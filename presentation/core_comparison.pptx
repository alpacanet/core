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2c5896d5b45a0" /><Relationship Type="http://schemas.openxmlformats.org/officeDocument/2006/relationships/extended-properties" Target="/docProps/app.xml" Id="R158e3c553de24a15" /><Relationship Type="http://schemas.openxmlformats.org/officeDocument/2006/relationships/officeDocument" Target="/ppt/presentation.xml" Id="R4325217b4cf24c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d15dc8c67547de"/>
  </p:sldMasterIdLst>
  <p:notesMasterIdLst>
    <p:notesMasterId xmlns:r="http://schemas.openxmlformats.org/officeDocument/2006/relationships" r:id="R0b2aa7b07d8d4d5f"/>
  </p:notesMasterIdLst>
  <p:sldIdLst>
    <p:sldId xmlns:r="http://schemas.openxmlformats.org/officeDocument/2006/relationships" id="256" r:id="R96bb4a0419fd4e0b"/>
    <p:sldId xmlns:r="http://schemas.openxmlformats.org/officeDocument/2006/relationships" id="257" r:id="Rdb77564b5a324bb3"/>
    <p:sldId xmlns:r="http://schemas.openxmlformats.org/officeDocument/2006/relationships" id="258" r:id="R024c180b48a74ce5"/>
    <p:sldId xmlns:r="http://schemas.openxmlformats.org/officeDocument/2006/relationships" id="259" r:id="R75bb171d8c304ab7"/>
    <p:sldId xmlns:r="http://schemas.openxmlformats.org/officeDocument/2006/relationships" id="260" r:id="Rb41683d39e5b4893"/>
    <p:sldId xmlns:r="http://schemas.openxmlformats.org/officeDocument/2006/relationships" id="261" r:id="R78291f7908de4879"/>
    <p:sldId xmlns:r="http://schemas.openxmlformats.org/officeDocument/2006/relationships" id="262" r:id="R051068d0d8304e62"/>
    <p:sldId xmlns:r="http://schemas.openxmlformats.org/officeDocument/2006/relationships" id="263" r:id="R54333ea7c6354bbf"/>
    <p:sldId xmlns:r="http://schemas.openxmlformats.org/officeDocument/2006/relationships" id="264" r:id="Rae141850d4184d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56452055ed4e14" /><Relationship Type="http://schemas.openxmlformats.org/officeDocument/2006/relationships/slideMaster" Target="/ppt/slideMasters/slideMaster1.xml" Id="R43d15dc8c67547de" /><Relationship Type="http://schemas.openxmlformats.org/officeDocument/2006/relationships/notesMaster" Target="/ppt/notesMasters/notesMaster1.xml" Id="R0b2aa7b07d8d4d5f" /><Relationship Type="http://schemas.openxmlformats.org/officeDocument/2006/relationships/presProps" Target="/ppt/presProps.xml" Id="Recb3b62ba3924b51" /><Relationship Type="http://schemas.openxmlformats.org/officeDocument/2006/relationships/tableStyles" Target="/ppt/tableStyles.xml" Id="Re0ef037a0cf149ae" /><Relationship Type="http://schemas.openxmlformats.org/officeDocument/2006/relationships/slide" Target="/ppt/slides/slide1.xml" Id="R96bb4a0419fd4e0b" /><Relationship Type="http://schemas.openxmlformats.org/officeDocument/2006/relationships/slide" Target="/ppt/slides/slide2.xml" Id="Rdb77564b5a324bb3" /><Relationship Type="http://schemas.openxmlformats.org/officeDocument/2006/relationships/slide" Target="/ppt/slides/slide3.xml" Id="R024c180b48a74ce5" /><Relationship Type="http://schemas.openxmlformats.org/officeDocument/2006/relationships/slide" Target="/ppt/slides/slide4.xml" Id="R75bb171d8c304ab7" /><Relationship Type="http://schemas.openxmlformats.org/officeDocument/2006/relationships/slide" Target="/ppt/slides/slide5.xml" Id="Rb41683d39e5b4893" /><Relationship Type="http://schemas.openxmlformats.org/officeDocument/2006/relationships/slide" Target="/ppt/slides/slide6.xml" Id="R78291f7908de4879" /><Relationship Type="http://schemas.openxmlformats.org/officeDocument/2006/relationships/slide" Target="/ppt/slides/slide7.xml" Id="R051068d0d8304e62" /><Relationship Type="http://schemas.openxmlformats.org/officeDocument/2006/relationships/slide" Target="/ppt/slides/slide8.xml" Id="R54333ea7c6354bbf" /><Relationship Type="http://schemas.openxmlformats.org/officeDocument/2006/relationships/slide" Target="/ppt/slides/slide9.xml" Id="Rae141850d4184d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a07378f12e4d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f1fd05f8d34682" /><Relationship Type="http://schemas.openxmlformats.org/officeDocument/2006/relationships/notesMaster" Target="/ppt/notesMasters/notesMaster1.xml" Id="Re43bc047f7e949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762b33b3e84bac" /><Relationship Type="http://schemas.openxmlformats.org/officeDocument/2006/relationships/notesMaster" Target="/ppt/notesMasters/notesMaster1.xml" Id="R0cb40b1b6c914f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b8179f7e8141a1" /><Relationship Type="http://schemas.openxmlformats.org/officeDocument/2006/relationships/notesMaster" Target="/ppt/notesMasters/notesMaster1.xml" Id="Rae31ada8f28f49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dc70461cad45fe" /><Relationship Type="http://schemas.openxmlformats.org/officeDocument/2006/relationships/notesMaster" Target="/ppt/notesMasters/notesMaster1.xml" Id="Rd8a75329888748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a2781a531140cf" /><Relationship Type="http://schemas.openxmlformats.org/officeDocument/2006/relationships/notesMaster" Target="/ppt/notesMasters/notesMaster1.xml" Id="Ra0c837c6263841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672cb76a7c4ea1" /><Relationship Type="http://schemas.openxmlformats.org/officeDocument/2006/relationships/notesMaster" Target="/ppt/notesMasters/notesMaster1.xml" Id="R24785414f0c841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144308d2e482c" /><Relationship Type="http://schemas.openxmlformats.org/officeDocument/2006/relationships/notesMaster" Target="/ppt/notesMasters/notesMaster1.xml" Id="Rcf3596463a5e4c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11a67627264580" /><Relationship Type="http://schemas.openxmlformats.org/officeDocument/2006/relationships/notesMaster" Target="/ppt/notesMasters/notesMaster1.xml" Id="R43634e7d5a2841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607d4f37764540" /><Relationship Type="http://schemas.openxmlformats.org/officeDocument/2006/relationships/notesMaster" Target="/ppt/notesMasters/notesMaster1.xml" Id="Rb40a3210733d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Recurring research-meeting deck generated from presentation/data/results.yaml.</a:t>
            </a:r>
          </a:p>
          <a:p xmlns:a="http://schemas.openxmlformats.org/drawingml/2006/main">
            <a:r>
              <a:t>Sources: README_LLM.md; docs/research_notes.md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README_LLM.md, research questions and pure-ID definition.</a:t>
            </a:r>
          </a:p>
          <a:p xmlns:a="http://schemas.openxmlformats.org/drawingml/2006/main">
            <a:r>
              <a:t>Source: docs/research_notes.md, pure-ID scenario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README_LLM.md, model implementation section.</a:t>
            </a:r>
          </a:p>
          <a:p xmlns:a="http://schemas.openxmlformats.org/drawingml/2006/main">
            <a:r>
              <a:t>The Qwen language embedding table does not process item IDs in this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README_LLM.md; saved manifest and metrics under each model source path in results.yaml.</a:t>
            </a:r>
          </a:p>
          <a:p xmlns:a="http://schemas.openxmlformats.org/drawingml/2006/main">
            <a:r>
              <a:t>All counts and evaluation settings come from the repository's recorded Phase 1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README_LLM.md, matched validation comparison.</a:t>
            </a:r>
          </a:p>
          <a:p xmlns:a="http://schemas.openxmlformats.org/drawingml/2006/main">
            <a:r>
              <a:t>Run sources: results/phase1/20261005-115750-tmall-ave-9cf3dc; results/phase1/20261005-120616-tmall-trm-32ec4d; results/phase1/20261002-132157-tmall-pretrained_lora-4d00c9.</a:t>
            </a:r>
          </a:p>
          <a:p xmlns:a="http://schemas.openxmlformats.org/drawingml/2006/main">
            <a:r>
              <a:t>The relative difference is descriptive and is not a significance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README_LLM.md, current conclusion and limitations.</a:t>
            </a:r>
          </a:p>
          <a:p xmlns:a="http://schemas.openxmlformats.org/drawingml/2006/main">
            <a:r>
              <a:t>The random_lora full comparison remains untested; smoke runs do not count as effectiveness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README_LLM.md; docs/research_notes.md.</a:t>
            </a:r>
          </a:p>
          <a:p xmlns:a="http://schemas.openxmlformats.org/drawingml/2006/main">
            <a:r>
              <a:t>This slide states a preliminary implication, not an experimental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README_LLM.md, recorded average training seconds per epoch.</a:t>
            </a:r>
          </a:p>
          <a:p xmlns:a="http://schemas.openxmlformats.org/drawingml/2006/main">
            <a:r>
              <a:t>The training times are observations, not a controlled speed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README_LLM.md, recommended diagnostics and controls.</a:t>
            </a:r>
          </a:p>
          <a:p xmlns:a="http://schemas.openxmlformats.org/drawingml/2006/main">
            <a:r>
              <a:t>Listed comparisons are planned. Refactoring does not add new scientific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f0e4e947940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ae0e6ca9740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841bad00247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92cd4416349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9f40fa1b04d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da1de009240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AC7475-6CC2-4075-83F5-3836F9927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9E40DC-D5EC-49BC-92E6-F74F314147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7F2875-7B68-4E25-BAC7-CBD02F3E6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EE0141-C94D-48F1-A405-CFA5AA2F0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8B213B-48E3-4400-B926-FE8A3E4BB1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3147F0-4CD9-48A7-85D7-A74E16CA2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652C6A-E686-4417-B270-EC1865C211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59BD41-F0DC-48E0-9AE0-ECC3ABB6D3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0F3EBA-C851-4BE3-B1FD-B93F21A207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D0EA69-7DDD-478A-BC91-FA2CFDD231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ad6082c2fa4bb0" /><Relationship Type="http://schemas.openxmlformats.org/officeDocument/2006/relationships/slideLayout" Target="/ppt/slideLayouts/slideLayout1.xml" Id="R4f9bd9ffde4b44ac" /><Relationship Type="http://schemas.openxmlformats.org/officeDocument/2006/relationships/slideLayout" Target="/ppt/slideLayouts/slideLayout2.xml" Id="R802a0f7540d94d32" /><Relationship Type="http://schemas.openxmlformats.org/officeDocument/2006/relationships/slideLayout" Target="/ppt/slideLayouts/slideLayout3.xml" Id="Refe3bc5676e344bc" /><Relationship Type="http://schemas.openxmlformats.org/officeDocument/2006/relationships/slideLayout" Target="/ppt/slideLayouts/slideLayout4.xml" Id="Reb917221395c46d5" /><Relationship Type="http://schemas.openxmlformats.org/officeDocument/2006/relationships/slideLayout" Target="/ppt/slideLayouts/slideLayout5.xml" Id="R644f97eea53c4ac8" /><Relationship Type="http://schemas.openxmlformats.org/officeDocument/2006/relationships/slideLayout" Target="/ppt/slideLayouts/slideLayout6.xml" Id="R8f2b9956ba7045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9bd9ffde4b44ac"/>
    <p:sldLayoutId xmlns:r="http://schemas.openxmlformats.org/officeDocument/2006/relationships" id="2147483650" r:id="R802a0f7540d94d32"/>
    <p:sldLayoutId xmlns:r="http://schemas.openxmlformats.org/officeDocument/2006/relationships" id="2147483651" r:id="Refe3bc5676e344bc"/>
    <p:sldLayoutId xmlns:r="http://schemas.openxmlformats.org/officeDocument/2006/relationships" id="2147483652" r:id="Reb917221395c46d5"/>
    <p:sldLayoutId xmlns:r="http://schemas.openxmlformats.org/officeDocument/2006/relationships" id="2147483653" r:id="R644f97eea53c4ac8"/>
    <p:sldLayoutId xmlns:r="http://schemas.openxmlformats.org/officeDocument/2006/relationships" id="2147483654" r:id="R8f2b9956ba7045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ef7143ca44f51" /><Relationship Type="http://schemas.openxmlformats.org/officeDocument/2006/relationships/notesSlide" Target="/ppt/notesSlides/notesSlide1.xml" Id="R452e99c0d2ab44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98fc08cfe42ee" /><Relationship Type="http://schemas.openxmlformats.org/officeDocument/2006/relationships/notesSlide" Target="/ppt/notesSlides/notesSlide2.xml" Id="R1147c67020b648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d696f23ce4389" /><Relationship Type="http://schemas.openxmlformats.org/officeDocument/2006/relationships/notesSlide" Target="/ppt/notesSlides/notesSlide3.xml" Id="Refd3cebe1f4643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1ac52017a461c" /><Relationship Type="http://schemas.openxmlformats.org/officeDocument/2006/relationships/notesSlide" Target="/ppt/notesSlides/notesSlide4.xml" Id="R4e31f09bca0a4e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bb5fb386c74284" /><Relationship Type="http://schemas.openxmlformats.org/officeDocument/2006/relationships/notesSlide" Target="/ppt/notesSlides/notesSlide5.xml" Id="R128bbf10becf4c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99587f90c4cf2" /><Relationship Type="http://schemas.openxmlformats.org/officeDocument/2006/relationships/notesSlide" Target="/ppt/notesSlides/notesSlide6.xml" Id="Rf451e16f405841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349acae4945d1" /><Relationship Type="http://schemas.openxmlformats.org/officeDocument/2006/relationships/notesSlide" Target="/ppt/notesSlides/notesSlide7.xml" Id="Rb83733689d1a45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4385bc1a24049" /><Relationship Type="http://schemas.openxmlformats.org/officeDocument/2006/relationships/chart" Target="/ppt/slides/charts/chart1.xml" Id="Rb7d488b35ca244dc" /><Relationship Type="http://schemas.openxmlformats.org/officeDocument/2006/relationships/notesSlide" Target="/ppt/notesSlides/notesSlide8.xml" Id="Rc8dcd0f15e7b49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a316409fb4708" /><Relationship Type="http://schemas.openxmlformats.org/officeDocument/2006/relationships/notesSlide" Target="/ppt/notesSlides/notesSlide9.xml" Id="Ra405bb383d7e45a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Seconds per epoch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COREave</c:v>
                </c:pt>
                <c:pt idx="1">
                  <c:v>COREtrm</c:v>
                </c:pt>
                <c:pt idx="2">
                  <c:v>Qwen + LoRA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47.2</c:v>
                </c:pt>
                <c:pt idx="1">
                  <c:v>100.91</c:v>
                </c:pt>
                <c:pt idx="2">
                  <c:v>3538.43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5242B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Recorded training seconds per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D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CFD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9881F-C599-4315-BC5A-99F2EAC1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C7632-7D31-4687-9C2D-DD59CD57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43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Pure-ID Session-based Recommendation with LLMs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5F93C-CF80-4368-9A25-78A22CC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0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075B63"/>
                </a:solidFill>
                <a:latin typeface="Aptos"/>
                <a:ea typeface="Aptos"/>
                <a:cs typeface="Aptos"/>
              </a:rPr>
              <a:t>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CF32F-8277-4311-B4F3-06D149B5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AF56E-B54A-4D52-B6F5-FA9509F5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CORE + LLM Exploration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0CEFF-6968-4068-9DD9-79AAB2D2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Way</a:t>
            </a:r>
          </a:p>
          <a:p xmlns:a="http://schemas.openxmlformats.org/drawingml/2006/main">
            <a:pPr algn="l">
              <a:defRPr sz="150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October 5, 2026  ·  Research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B26A1-5EA5-488A-94B3-6B2E4F4A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721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75" b="0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B63"/>
                </a:solidFill>
                <a:latin typeface="Aptos"/>
                <a:ea typeface="Aptos"/>
                <a:cs typeface="Aptos"/>
              </a:rPr>
              <a:t>pure item IDs  |  no names, brands, descriptions, or semantic metadata</a:t>
            </a:r>
          </a:p>
        </p:txBody>
      </p:sp>
    </p:spTree>
    <p:extLst>
      <p:ext uri="{BB962C8B-B14F-4D97-AF65-F5344CB8AC3E}">
        <p14:creationId xmlns:p14="http://schemas.microsoft.com/office/powerpoint/2010/main" val="550720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01309-CE3A-4512-9A1E-DE5B0E01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78F4F-D03E-426F-BA62-2099AB42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7EF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B24BC-D028-4653-8464-744AA3C0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AE85F-DC08-4AF3-A33C-F9307B17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CORE + LLM  •  Research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FB2C1-D04F-4CBC-BA1C-1CEA0FDF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C1846-86E5-42BE-97F3-D2FC161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77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277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Can pretrained LLM sequence modeling transfer to pure-ID session recommendation?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C9264-548D-44E4-8DB4-E500F45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0F091-B711-4566-9C6D-3579B931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Can an LLM process learned item-ID embeddings?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2B543-E9A6-4F93-A4FB-A94049D2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E324B-BFFB-43A7-B4EC-CD135CEC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95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Can it improve next-item ranking over CORE?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F8734-70CB-4BA6-8744-787C9705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881D9-1175-4210-AE84-D6CCE8F4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243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Does language pretraining itself add value?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DE90F-2240-4A22-B50C-FF396EE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01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3B6D0-06AA-469A-AC60-7FDDBA5E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529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Does the value concentrate on unseen-in-session exploration?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299F3-B28C-4295-BE14-5EAC965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67350"/>
            <a:ext cx="9410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0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Pure-ID constraint: no item name, brand, description, category, or semantic metadata</a:t>
            </a:r>
          </a:p>
        </p:txBody>
      </p:sp>
    </p:spTree>
    <p:extLst>
      <p:ext uri="{BB962C8B-B14F-4D97-AF65-F5344CB8AC3E}">
        <p14:creationId xmlns:p14="http://schemas.microsoft.com/office/powerpoint/2010/main" val="27400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EADCD-083B-46CA-8A15-2DD8D1A5134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286750" y="4381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E3AC3-88E1-4417-9BC6-5E0FC74A72DD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286750" y="3257550"/>
            <a:ext cx="1809750" cy="1123950"/>
          </a:xfrm>
          <a:prstGeom xmlns:a="http://schemas.openxmlformats.org/drawingml/2006/main" prst="bentConnector5">
            <a:avLst>
              <a:gd name="adj1" fmla="val 0"/>
              <a:gd name="adj2" fmla="val 20339"/>
              <a:gd name="adj3" fmla="val 87368"/>
            </a:avLst>
          </a:prstGeom>
          <a:ln xmlns:a="http://schemas.openxmlformats.org/drawingml/2006/main" w="19050">
            <a:solidFill>
              <a:srgbClr val="087F8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BA749-C281-4FBA-94CA-4BE28FA9377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76950" y="2095500"/>
            <a:ext cx="1162050" cy="19812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67703-1008-4F90-A416-45EA01FE3EB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8286750" y="2819400"/>
            <a:ext cx="619125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07229-8261-40B2-9E2B-3834F4706D0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91125" y="1914525"/>
            <a:ext cx="1000125" cy="923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28A81-8234-4200-AD22-002AA2B228D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191125" y="1724025"/>
            <a:ext cx="100012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3E54E-60D5-4760-ABAE-667C5A9CEFB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1914525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358DF-3199-46F9-9DA4-505A295A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CORE + LLM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010FD-6A70-4F99-88BF-2454649B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7EF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80B16-73DF-4FE5-A906-5DB3F5A7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96948-DA70-48F8-9F9D-DD6AF874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CORE + LLM  •  Research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2F2FF-8076-4721-A82E-68C56674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9BCFC-C24B-47C0-B270-4A8B4D64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Click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2C7BC-7879-4738-91B1-5C4DE431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Learned item embedding</a:t>
            </a:r>
          </a:p>
          <a:p xmlns:a="http://schemas.openxmlformats.org/drawingml/2006/main">
            <a: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100 dimensions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CA49F-638E-4280-AA44-A808CC90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COREave</a:t>
            </a:r>
          </a:p>
          <a:p xmlns:a="http://schemas.openxmlformats.org/drawingml/2006/main">
            <a: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simple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4A8D0-AF75-4B1D-A86E-C6D509A7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2095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Projection + LayerNorm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8675F-DE86-4C34-BE07-C50D9D96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8125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Qwen3-0.6B + LoRA</a:t>
            </a:r>
          </a:p>
          <a:p xmlns:a="http://schemas.openxmlformats.org/drawingml/2006/main">
            <a: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pretrained sequence encoder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B57A4-621C-4E0A-86E9-6C87B722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095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Gated 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4A7AE-C8F5-4D56-9EF3-51C2E1BD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7670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75B63"/>
          </a:solidFill>
          <a:ln xmlns:a="http://schemas.openxmlformats.org/drawingml/2006/main" w="11430">
            <a:solidFill>
              <a:srgbClr val="075B6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Full-item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BDACC-BADF-4ED8-A19E-58F10AB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LLM 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EEF4B-CA1E-482E-A243-13CDA97E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Continuous learned embeddings enter through inputs_embeds. Item IDs never become text tokens.</a:t>
            </a:r>
          </a:p>
        </p:txBody>
      </p:sp>
    </p:spTree>
    <p:extLst>
      <p:ext uri="{BB962C8B-B14F-4D97-AF65-F5344CB8AC3E}">
        <p14:creationId xmlns:p14="http://schemas.microsoft.com/office/powerpoint/2010/main" val="1997499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E5737-CEF8-43D4-BEB4-B42545C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57634-2D89-4E30-B380-D94641A5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7EF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5418C-D13E-433B-9A38-3D2AD45B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9FA66-6799-4BE2-B9D2-0C7E6CAF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CORE + LLM  •  Research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98D9B-E415-43A1-B923-D664036C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FCE30-6FCF-4C50-A12B-FF79711C3656}"/>
              </a:ext>
            </a:extLst>
          </p:cNvPr>
          <p:cNvGraphicFramePr/>
          <p:nvPr/>
        </p:nvGraphicFramePr>
        <p:xfrm>
          <a:off xmlns:a="http://schemas.openxmlformats.org/drawingml/2006/main" x="762000" y="1352550"/>
          <a:ext xmlns:a="http://schemas.openxmlformats.org/drawingml/2006/main" cx="6381750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6338"/>
                <a:gridCol w="3935413"/>
              </a:tblGrid>
              <a:tr h="531019">
                <a:tc>
                  <a:txBody>
                    <a:bodyPr/>
                    <a:lstStyle/>
                    <a:p>
                      <a:r>
                        <a:t>Setting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/>
                </a:tc>
              </a:tr>
              <a:tr h="531019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Tmall</a:t>
                      </a:r>
                    </a:p>
                  </a:txBody>
                  <a:tcPr marL="91440" marR="91440" marT="45720" marB="45720"/>
                </a:tc>
              </a:tr>
              <a:tr h="531019">
                <a:tc>
                  <a:txBody>
                    <a:bodyPr/>
                    <a:lstStyle/>
                    <a:p>
                      <a:r>
                        <a:t>Train / valid /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275,356 / 50,579 / 101,862</a:t>
                      </a:r>
                    </a:p>
                  </a:txBody>
                  <a:tcPr marL="91440" marR="91440" marT="45720" marB="45720"/>
                </a:tc>
              </a:tr>
              <a:tr h="531019">
                <a:tc>
                  <a:txBody>
                    <a:bodyPr/>
                    <a:lstStyle/>
                    <a:p>
                      <a:r>
                        <a:t>Items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37,367 including padding ID 0</a:t>
                      </a:r>
                    </a:p>
                  </a:txBody>
                  <a:tcPr marL="91440" marR="91440" marT="45720" marB="45720"/>
                </a:tc>
              </a:tr>
              <a:tr h="531019">
                <a:tc>
                  <a:txBody>
                    <a:bodyPr/>
                    <a:lstStyle/>
                    <a:p>
                      <a:r>
                        <a:t>Maximum session length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 marL="91440" marR="91440" marT="45720" marB="45720"/>
                </a:tc>
              </a:tr>
              <a:tr h="531019">
                <a:tc>
                  <a:txBody>
                    <a:bodyPr/>
                    <a:lstStyle/>
                    <a:p>
                      <a:r>
                        <a:t>Ranking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Full catalog; padding excluded; repeat items allowed</a:t>
                      </a:r>
                    </a:p>
                  </a:txBody>
                  <a:tcPr marL="91440" marR="91440" marT="45720" marB="45720"/>
                </a:tc>
              </a:tr>
              <a:tr h="531019">
                <a:tc>
                  <a:txBody>
                    <a:bodyPr/>
                    <a:lstStyle/>
                    <a:p>
                      <a:r>
                        <a:t>Metrics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Recall@10/20 and MRR@10/20</a:t>
                      </a:r>
                    </a:p>
                  </a:txBody>
                  <a:tcPr marL="91440" marR="91440" marT="45720" marB="45720"/>
                </a:tc>
              </a:tr>
              <a:tr h="531019">
                <a:tc>
                  <a:txBody>
                    <a:bodyPr/>
                    <a:lstStyle/>
                    <a:p>
                      <a:r>
                        <a:t>Checkpoint selection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 MRR@20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2DF0A-1324-4DD1-BB42-BB67CBC7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54C71-C0B6-42FA-9A4C-BCB2E797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DC697-7FFC-4327-A6AD-6F8004FF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431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COREave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71095-F586-4A0A-94DF-6AA8580D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B0A27-8259-4471-BA21-C01D8B1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COREtrm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C16FC-59C6-4B03-9812-9EC58228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2E945-B951-4A40-8C26-050B8080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909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CORE + Qwen3-0.6B + 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FD1A8-F515-41C6-BE45-A0971AB5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581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0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single-seed preliminary validation comparison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E5711-3EF0-4863-9560-59E46F5B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530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6536"/>
                </a:solidFill>
                <a:latin typeface="Aptos"/>
                <a:ea typeface="Aptos"/>
                <a:cs typeface="Aptos"/>
              </a:rPr>
              <a:t>No matched full test result yet</a:t>
            </a:r>
          </a:p>
        </p:txBody>
      </p:sp>
    </p:spTree>
    <p:extLst>
      <p:ext uri="{BB962C8B-B14F-4D97-AF65-F5344CB8AC3E}">
        <p14:creationId xmlns:p14="http://schemas.microsoft.com/office/powerpoint/2010/main" val="949266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ACBE4-20F3-4906-A45E-94D4E663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Current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B2418-3F60-43AB-BB46-AF8F3AC2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7EF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883F1-F6FB-46D2-98BE-8FF9F9E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0D13F-7E85-49A7-9A97-DE7EEBAF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CORE + LLM  •  Research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1C417-41C7-4860-A7BC-5F7E9D9C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59191-BB6A-4315-A44C-71521D5B6B96}"/>
              </a:ext>
            </a:extLst>
          </p:cNvPr>
          <p:cNvGraphicFramePr/>
          <p:nvPr/>
        </p:nvGraphicFramePr>
        <p:xfrm>
          <a:off xmlns:a="http://schemas.openxmlformats.org/drawingml/2006/main" x="819150" y="1581150"/>
          <a:ext xmlns:a="http://schemas.openxmlformats.org/drawingml/2006/main" cx="71056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64758"/>
                <a:gridCol w="1920446"/>
                <a:gridCol w="1920446"/>
              </a:tblGrid>
              <a:tr h="681038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Recall@20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MRR@20</a:t>
                      </a:r>
                    </a:p>
                  </a:txBody>
                  <a:tcPr marL="91440" marR="91440" marT="45720" marB="45720"/>
                </a:tc>
              </a:tr>
              <a:tr h="681038">
                <a:tc>
                  <a:txBody>
                    <a:bodyPr/>
                    <a:lstStyle/>
                    <a:p>
                      <a:r>
                        <a:t>COREave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0.3471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0.1936</a:t>
                      </a:r>
                    </a:p>
                  </a:txBody>
                  <a:tcPr marL="91440" marR="91440" marT="45720" marB="45720"/>
                </a:tc>
              </a:tr>
              <a:tr h="681038">
                <a:tc>
                  <a:txBody>
                    <a:bodyPr/>
                    <a:lstStyle/>
                    <a:p>
                      <a:r>
                        <a:t>COREtrm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0.3457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0.1936</a:t>
                      </a:r>
                    </a:p>
                  </a:txBody>
                  <a:tcPr marL="91440" marR="91440" marT="45720" marB="45720"/>
                </a:tc>
              </a:tr>
              <a:tr h="681038">
                <a:tc>
                  <a:txBody>
                    <a:bodyPr/>
                    <a:lstStyle/>
                    <a:p>
                      <a:r>
                        <a:t>CORE + Qwen3-0.6B + LoRA</a:t>
                      </a:r>
                    </a:p>
                  </a:txBody>
                  <a:tcPr marL="91440" marR="91440" marT="45720" marB="45720">
                    <a:solidFill>
                      <a:srgbClr val="EA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0.3414</a:t>
                      </a:r>
                    </a:p>
                  </a:txBody>
                  <a:tcPr marL="91440" marR="91440" marT="45720" marB="45720">
                    <a:solidFill>
                      <a:srgbClr val="EA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0.1896</a:t>
                      </a:r>
                    </a:p>
                  </a:txBody>
                  <a:tcPr marL="91440" marR="91440" marT="45720" marB="45720">
                    <a:solidFill>
                      <a:srgbClr val="EAF5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D8433-0041-4613-8111-01EF7FE8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573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75" b="1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6F75"/>
                </a:solidFill>
                <a:latin typeface="Aptos"/>
                <a:ea typeface="Aptos"/>
                <a:cs typeface="Aptos"/>
              </a:rPr>
              <a:t>LLM vs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F0FF1-B9EA-461E-AE64-4E22133D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4800" b="1">
                <a:solidFill>
                  <a:srgbClr val="9A3D4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4800" b="1">
                <a:solidFill>
                  <a:srgbClr val="9A3D45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9A3D45"/>
                </a:solidFill>
                <a:latin typeface="Aptos"/>
                <a:ea typeface="Aptos"/>
                <a:cs typeface="Aptos"/>
              </a:rPr>
              <a:t>-2.07%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CFA21-8540-4B07-8137-7C30042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05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0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MRR@20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1802E-109A-41D2-92AE-1052BFDA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3295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Current default configuration</a:t>
            </a:r>
          </a:p>
          <a:p xmlns:a="http://schemas.openxmlformats.org/drawingml/2006/main">
            <a:pPr algn="ctr">
              <a:defRPr sz="19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does not outperform CORE.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75134-301B-44F3-906E-F0F8C1AD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10134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 b="0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75B63"/>
                </a:solidFill>
                <a:latin typeface="Aptos"/>
                <a:ea typeface="Aptos"/>
                <a:cs typeface="Aptos"/>
              </a:rPr>
              <a:t>Diagnostic signal: Recall@20 reached 0.3570 at epoch 3, while MRR@20 fell to 0.1868. This was not the selected checkpoint.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42CA3-E557-4A95-B56F-72CE80F1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05500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Validation only · seed 2020 · LLM run interrupted after 7 completed epochs</a:t>
            </a:r>
          </a:p>
        </p:txBody>
      </p:sp>
    </p:spTree>
    <p:extLst>
      <p:ext uri="{BB962C8B-B14F-4D97-AF65-F5344CB8AC3E}">
        <p14:creationId xmlns:p14="http://schemas.microsoft.com/office/powerpoint/2010/main" val="1471920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70604-EECC-47C0-B372-8D12B265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Current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5187B-3152-46A5-A230-A6B050E7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7EF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22480-3375-49BD-8743-F81FCA5C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8B3AE-4FA2-48E7-9187-7F4E1B4F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CORE + LLM  •  Research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1DC43-303E-4F38-9EE4-92F3E8BD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723E7-DEAA-45AC-8FCA-988E8D69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4800" b="1">
                <a:solidFill>
                  <a:srgbClr val="2D7A5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4800" b="1">
                <a:solidFill>
                  <a:srgbClr val="2D7A5B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2D7A5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7A893-6D2F-4128-AF3C-478045ED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>
                <a:solidFill>
                  <a:srgbClr val="2D7A5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D7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A5B"/>
                </a:solidFill>
                <a:latin typeface="Aptos"/>
                <a:ea typeface="Aptos"/>
                <a:cs typeface="Aptos"/>
              </a:rPr>
              <a:t>ENGINEERING FEASIBILITY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A37A8-4116-4FE0-ACC9-D04AD05D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952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Pure-ID embeddings pass through pretrained Qwen.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Training, full-catalog validation, checkpointing, and recovery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D5BE4-D7BC-48CA-9319-11DB2EA0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4800" b="1">
                <a:solidFill>
                  <a:srgbClr val="9A3D4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4800" b="1">
                <a:solidFill>
                  <a:srgbClr val="9A3D45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9A3D45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7BE10-22C1-41E2-8137-29E9649E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>
                <a:solidFill>
                  <a:srgbClr val="9A3D4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A3D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3D45"/>
                </a:solidFill>
                <a:latin typeface="Aptos"/>
                <a:ea typeface="Aptos"/>
                <a:cs typeface="Aptos"/>
              </a:rPr>
              <a:t>RECOMMENDATION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862F7-A487-4C08-B1B7-DA803EF8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2952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The current configuration trails both matched CORE baselines on validation MRR@20.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AD2CD-8A96-4ADC-AA19-ADEB4615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480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480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B56536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7A8B7-695B-4814-B760-DC5C8837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56536"/>
                </a:solidFill>
                <a:latin typeface="Aptos"/>
                <a:ea typeface="Aptos"/>
                <a:cs typeface="Aptos"/>
              </a:rPr>
              <a:t>ATTRIBUTION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80810-7CCA-4929-B831-7C14BF0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2952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Architecture and language pretraining remain confounded.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The random-backbone full control has not been run.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8FB9C-B632-4824-830A-90E167B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53050"/>
            <a:ext cx="904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This experiment tests direct representation transfer. Explicit intent reasoning remains untested.</a:t>
            </a:r>
          </a:p>
        </p:txBody>
      </p:sp>
    </p:spTree>
    <p:extLst>
      <p:ext uri="{BB962C8B-B14F-4D97-AF65-F5344CB8AC3E}">
        <p14:creationId xmlns:p14="http://schemas.microsoft.com/office/powerpoint/2010/main" val="853657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C0843-2EBA-448A-BCA8-6A5F3E10E3E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334250" y="3419475"/>
            <a:ext cx="6667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F75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D8222-6C61-427F-9037-40404EECBD1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191000" y="3419475"/>
            <a:ext cx="6667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F75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8437E-C452-47B8-8E73-3D2AC80F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Representation mismatch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B2FAD-4C5F-4C0C-8556-AD2DAAC6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7EF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61EA5-3180-4051-B1BF-853AB47F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53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C1B28-5574-49E8-B121-F9AAAE3C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CORE + LLM  •  Research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38016-2A40-476E-AF5E-782435C5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70469-7106-40DF-BB0F-7AD2B50C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763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5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A pretrained language model receives a completely new alphabet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A0E82-559F-40E1-9466-88882415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Language pretraining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words</a:t>
            </a:r>
          </a:p>
          <a:p xmlns:a="http://schemas.openxmlformats.org/drawingml/2006/main">
            <a: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syntax</a:t>
            </a:r>
          </a:p>
          <a:p xmlns:a="http://schemas.openxmlformats.org/drawingml/2006/main">
            <a: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semantic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00B55-6EE1-499E-82E3-938241C0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representation</a:t>
            </a:r>
          </a:p>
          <a:p xmlns:a="http://schemas.openxmlformats.org/drawingml/2006/main">
            <a:pPr algn="ctr">
              <a:defRPr sz="187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mismatch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B3086-2095-4F3B-A7C9-2A2C07A0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Pure-ID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arbitrary labels</a:t>
            </a:r>
          </a:p>
          <a:p xmlns:a="http://schemas.openxmlformats.org/drawingml/2006/main">
            <a: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learned vectors</a:t>
            </a:r>
          </a:p>
          <a:p xmlns:a="http://schemas.openxmlformats.org/drawingml/2006/main">
            <a:pPr algn="ctr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behavioral signal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722AF-9A6F-4A2F-A16F-B6E48C31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19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56536"/>
                </a:solidFill>
                <a:latin typeface="Aptos"/>
                <a:ea typeface="Aptos"/>
                <a:cs typeface="Aptos"/>
              </a:rPr>
              <a:t>Preliminary implication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694A5-69D9-4352-8645-1061A74C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435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Sequence ability may require behavioral structure or task specialization before it transfers.</a:t>
            </a:r>
          </a:p>
        </p:txBody>
      </p:sp>
    </p:spTree>
    <p:extLst>
      <p:ext uri="{BB962C8B-B14F-4D97-AF65-F5344CB8AC3E}">
        <p14:creationId xmlns:p14="http://schemas.microsoft.com/office/powerpoint/2010/main" val="17597742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07980-0B0D-461D-B3F5-D0892F9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Compute consideration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EC8A4-6E14-4DA9-BA25-89E70561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7EF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918F1-01D4-4B45-957E-565ED43C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1ABE2-C680-452F-B632-F702AB82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CORE + LLM  •  Research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EF718-27EF-4CDA-8362-3C7568B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5786D1D-1FD8-4275-BA9A-172526986D70}"/>
              </a:ext>
            </a:extLst>
          </p:cNvPr>
          <p:cNvGraphicFramePr/>
          <p:nvPr/>
        </p:nvGraphicFramePr>
        <p:xfrm>
          <a:off xmlns:a="http://schemas.openxmlformats.org/drawingml/2006/main" x="781050" y="1447800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d488b35ca244d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8D7B6-9066-4A0E-AAEE-84A0755F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19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4950" b="1">
                <a:solidFill>
                  <a:srgbClr val="9A3D4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4950" b="1">
                <a:solidFill>
                  <a:srgbClr val="9A3D45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9A3D45"/>
                </a:solidFill>
                <a:latin typeface="Aptos"/>
                <a:ea typeface="Aptos"/>
                <a:cs typeface="Aptos"/>
              </a:rPr>
              <a:t>75×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CEB62-AF56-4804-B064-13B279AD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slower than COREave</a:t>
            </a:r>
          </a:p>
          <a:p xmlns:a="http://schemas.openxmlformats.org/drawingml/2006/main">
            <a: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in recorded training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34828-2FEA-4A8E-A924-8E9101C6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352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Recorded training cost must be considered alongside ranking quality.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3C2E0-C9E3-422C-9A06-FCAAC3AB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339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6536"/>
                </a:solidFill>
                <a:latin typeface="Aptos"/>
                <a:ea typeface="Aptos"/>
                <a:cs typeface="Aptos"/>
              </a:rPr>
              <a:t>Recorded training only</a:t>
            </a:r>
          </a:p>
          <a:p xmlns:a="http://schemas.openxmlformats.org/drawingml/2006/main">
            <a:pPr algn="ctr">
              <a:defRPr sz="1350" b="1">
                <a:solidFill>
                  <a:srgbClr val="B565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6536"/>
                </a:solidFill>
                <a:latin typeface="Aptos"/>
                <a:ea typeface="Aptos"/>
                <a:cs typeface="Aptos"/>
              </a:rPr>
              <a:t>Not a speed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701C3-AFF8-4C07-B0EB-82379FC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86450"/>
            <a:ext cx="937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Same GPU model; background load and IDE mode were not controlled as a strict speed benchmark.</a:t>
            </a:r>
          </a:p>
        </p:txBody>
      </p:sp>
    </p:spTree>
    <p:extLst>
      <p:ext uri="{BB962C8B-B14F-4D97-AF65-F5344CB8AC3E}">
        <p14:creationId xmlns:p14="http://schemas.microsoft.com/office/powerpoint/2010/main" val="806487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45473-775A-4706-9DBC-0A220D003517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571875" y="5429250"/>
            <a:ext cx="15240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F7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795E4C-89DB-4F24-BA6C-A79CD38D193D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571875" y="4191000"/>
            <a:ext cx="15240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30A34-7613-4C28-90F2-7EA9AF5BD457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15375" y="2124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7EFF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79484-175C-445E-9B78-9BCAFDB36D1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81750" y="2124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7EFF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1B5B6-E8B7-439E-BFBD-74FAF90D9FA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48125" y="2124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7EFF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77B3C-36C2-4DFD-B73A-43994CE751A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752600" y="1733550"/>
            <a:ext cx="34290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53B7E-9DB9-4765-9E93-66D2D5C7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Immediate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1F579-E41F-4559-89B5-A9486222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7EF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0142E-19A0-427F-8430-8FA27AA0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AE8A6-C561-41C2-8EC8-166CFD93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CORE + LLM  •  Research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05448-3B22-4DB4-9557-00DD02C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6F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F5169-413C-4DA6-9E42-828FCA89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66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5B63"/>
          </a:solidFill>
          <a:ln xmlns:a="http://schemas.openxmlformats.org/drawingml/2006/main" w="11430">
            <a:solidFill>
              <a:srgbClr val="075B6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67B65-D16F-4F97-BEA8-1F595E65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390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4786B-955B-4E6F-973F-07A2895C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14500"/>
            <a:ext cx="1952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Gate and branch</a:t>
            </a:r>
          </a:p>
          <a:p xmlns:a="http://schemas.openxmlformats.org/drawingml/2006/main">
            <a: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98E98-B895-406B-BAEA-1D4A74FA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390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9CF14-38BA-4395-9DBA-D9151C76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1952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Matched learning-rate</a:t>
            </a:r>
          </a:p>
          <a:p xmlns:a="http://schemas.openxmlformats.org/drawingml/2006/main">
            <a: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E6A81-45E3-4A27-B646-D0D68862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90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78CE-D222-41F7-9516-0C13FDCA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1952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Random-backbone</a:t>
            </a:r>
          </a:p>
          <a:p xmlns:a="http://schemas.openxmlformats.org/drawingml/2006/main">
            <a: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72E2C-8F7D-400A-B444-9C171759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390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E4A7F-2F8B-4562-9553-EEF0C659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1952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Paired-seed</a:t>
            </a:r>
          </a:p>
          <a:p xmlns:a="http://schemas.openxmlformats.org/drawingml/2006/main">
            <a:pPr algn="ctr">
              <a:defRPr sz="150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E4482-5D2F-4577-BDDF-5929510E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Decision after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C632C-C857-4B6F-A03E-86BAD51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Positive, stable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0C1C3-C121-4AB4-B536-58A64E94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No stable gain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7052A-5918-4526-B0A6-58FA1496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95700"/>
            <a:ext cx="3810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Paired seeds</a:t>
            </a:r>
          </a:p>
          <a:p xmlns:a="http://schemas.openxmlformats.org/drawingml/2006/main">
            <a: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Random-backbone control</a:t>
            </a:r>
          </a:p>
          <a:p xmlns:a="http://schemas.openxmlformats.org/drawingml/2006/main">
            <a:pPr algn="ctr">
              <a:defRPr sz="1575" b="0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42B"/>
                </a:solidFill>
                <a:latin typeface="Aptos"/>
                <a:ea typeface="Aptos"/>
                <a:cs typeface="Aptos"/>
              </a:rPr>
              <a:t>Locked final-test 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6647E1-947C-4CC5-926B-8C799E0F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43500"/>
            <a:ext cx="381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F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24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B"/>
                </a:solidFill>
                <a:latin typeface="Aptos"/>
                <a:ea typeface="Aptos"/>
                <a:cs typeface="Aptos"/>
              </a:rPr>
              <a:t>Shrink the LLM direction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3A9B77-B703-49F3-8BFD-E80A5A0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71900"/>
            <a:ext cx="2362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75B63"/>
          </a:solidFill>
          <a:ln xmlns:a="http://schemas.openxmlformats.org/drawingml/2006/main" w="11430">
            <a:solidFill>
              <a:srgbClr val="075B6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goal: test recommendation gains and pretraining value under matched budgets.</a:t>
            </a:r>
          </a:p>
        </p:txBody>
      </p:sp>
    </p:spTree>
    <p:extLst>
      <p:ext uri="{BB962C8B-B14F-4D97-AF65-F5344CB8AC3E}">
        <p14:creationId xmlns:p14="http://schemas.microsoft.com/office/powerpoint/2010/main" val="1329102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2026-10-08T03:58:06.1570000Z</dcterms:created>
  <dcterms:modified xsi:type="dcterms:W3CDTF">2026-10-08T03:58:06.1570000Z</dcterms:modified>
</coreProperties>
</file>